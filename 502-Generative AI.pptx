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4" r:id="rId1"/>
  </p:sldMasterIdLst>
  <p:sldIdLst>
    <p:sldId id="256" r:id="rId2"/>
    <p:sldId id="272" r:id="rId3"/>
    <p:sldId id="257" r:id="rId4"/>
    <p:sldId id="265" r:id="rId5"/>
    <p:sldId id="266" r:id="rId6"/>
    <p:sldId id="259" r:id="rId7"/>
    <p:sldId id="260" r:id="rId8"/>
    <p:sldId id="262" r:id="rId9"/>
    <p:sldId id="263" r:id="rId10"/>
    <p:sldId id="264" r:id="rId11"/>
    <p:sldId id="267" r:id="rId12"/>
    <p:sldId id="269" r:id="rId13"/>
    <p:sldId id="268" r:id="rId14"/>
    <p:sldId id="271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4660"/>
  </p:normalViewPr>
  <p:slideViewPr>
    <p:cSldViewPr snapToGrid="0">
      <p:cViewPr varScale="1">
        <p:scale>
          <a:sx n="89" d="100"/>
          <a:sy n="89" d="100"/>
        </p:scale>
        <p:origin x="29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smtClean="0"/>
              <a:pPr/>
              <a:t>12/3/2025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719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smtClean="0"/>
              <a:t>12/3/2025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2825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smtClean="0"/>
              <a:t>12/3/2025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37039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smtClean="0"/>
              <a:t>12/3/2025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8167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smtClean="0"/>
              <a:t>12/3/2025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4675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smtClean="0"/>
              <a:t>12/3/2025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32919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smtClean="0"/>
              <a:t>12/3/2025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6633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smtClean="0"/>
              <a:t>12/3/2025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4862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smtClean="0"/>
              <a:t>12/3/2025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83625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smtClean="0"/>
              <a:t>12/3/2025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1858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smtClean="0"/>
              <a:t>12/3/2025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93055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smtClean="0"/>
              <a:t>12/3/2025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52324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smtClean="0"/>
              <a:t>12/3/2025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57872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smtClean="0"/>
              <a:t>12/3/2025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33977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smtClean="0"/>
              <a:t>12/3/2025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58154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smtClean="0"/>
              <a:t>12/3/2025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19410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smtClean="0"/>
              <a:t>12/3/2025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4617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smtClean="0"/>
              <a:t>12/3/2025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7457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88" r:id="rId14"/>
    <p:sldLayoutId id="2147483689" r:id="rId15"/>
    <p:sldLayoutId id="2147483690" r:id="rId16"/>
    <p:sldLayoutId id="2147483691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502-Generative AI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79"/>
            <a:ext cx="8825658" cy="112570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AI Agent with Session Management using Google </a:t>
            </a:r>
            <a:r>
              <a:rPr lang="en-US" dirty="0" smtClean="0"/>
              <a:t>ADK</a:t>
            </a:r>
          </a:p>
          <a:p>
            <a:r>
              <a:rPr lang="en-US" dirty="0" smtClean="0"/>
              <a:t>By </a:t>
            </a:r>
          </a:p>
          <a:p>
            <a:r>
              <a:rPr lang="en-IN" dirty="0" smtClean="0"/>
              <a:t>Praveen Kumar Sahu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6181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project demonstrates how to build an AI agent that remembers past interactions</a:t>
            </a:r>
            <a:r>
              <a:rPr lang="en-US" dirty="0" smtClean="0"/>
              <a:t>.</a:t>
            </a:r>
          </a:p>
          <a:p>
            <a:r>
              <a:rPr lang="en-IN" dirty="0" smtClean="0"/>
              <a:t>Using </a:t>
            </a:r>
            <a:r>
              <a:rPr lang="en-US" dirty="0"/>
              <a:t>Google’s </a:t>
            </a:r>
            <a:r>
              <a:rPr lang="en-US" b="1" dirty="0"/>
              <a:t>Agent Development Kit (ADK)</a:t>
            </a:r>
            <a:r>
              <a:rPr lang="en-US" dirty="0"/>
              <a:t> to manage sessions and enable persistent memory</a:t>
            </a:r>
            <a:r>
              <a:rPr lang="en-US" dirty="0" smtClean="0"/>
              <a:t>.</a:t>
            </a:r>
          </a:p>
          <a:p>
            <a:r>
              <a:rPr lang="en-US" dirty="0"/>
              <a:t>Implements core features like:</a:t>
            </a:r>
          </a:p>
          <a:p>
            <a:pPr lvl="1"/>
            <a:r>
              <a:rPr lang="en-US" dirty="0"/>
              <a:t>Session storage</a:t>
            </a:r>
          </a:p>
          <a:p>
            <a:pPr lvl="1"/>
            <a:r>
              <a:rPr lang="en-US" dirty="0"/>
              <a:t>Context handling</a:t>
            </a:r>
          </a:p>
          <a:p>
            <a:pPr lvl="1"/>
            <a:r>
              <a:rPr lang="en-US" dirty="0" err="1"/>
              <a:t>Stateful</a:t>
            </a:r>
            <a:r>
              <a:rPr lang="en-US" dirty="0"/>
              <a:t> agent responses</a:t>
            </a:r>
          </a:p>
          <a:p>
            <a:pPr lvl="1"/>
            <a:r>
              <a:rPr lang="en-US" dirty="0"/>
              <a:t>Persistent memory using SQLite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39020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Primary goal is to implement </a:t>
            </a:r>
            <a:r>
              <a:rPr lang="en-US" b="1" dirty="0"/>
              <a:t>Session Management</a:t>
            </a:r>
            <a:r>
              <a:rPr lang="en-US" dirty="0"/>
              <a:t>, enabling the agent to remember previous user </a:t>
            </a:r>
            <a:r>
              <a:rPr lang="en-US" dirty="0" smtClean="0"/>
              <a:t>inputs</a:t>
            </a:r>
          </a:p>
          <a:p>
            <a:r>
              <a:rPr lang="fr-FR" dirty="0"/>
              <a:t>Uses </a:t>
            </a:r>
            <a:r>
              <a:rPr lang="fr-FR" b="1" dirty="0"/>
              <a:t>Google Gemini API</a:t>
            </a:r>
            <a:r>
              <a:rPr lang="fr-FR" dirty="0"/>
              <a:t>, ADK </a:t>
            </a:r>
            <a:r>
              <a:rPr lang="fr-FR" dirty="0" smtClean="0"/>
              <a:t>Agents and </a:t>
            </a:r>
            <a:r>
              <a:rPr lang="en-IN" dirty="0"/>
              <a:t>Session </a:t>
            </a:r>
            <a:r>
              <a:rPr lang="en-IN" dirty="0" smtClean="0"/>
              <a:t>Services</a:t>
            </a:r>
            <a:endParaRPr lang="en-IN" dirty="0"/>
          </a:p>
          <a:p>
            <a:r>
              <a:rPr lang="en-US" dirty="0"/>
              <a:t>Demonstrates how memory helps in maintaining </a:t>
            </a:r>
            <a:r>
              <a:rPr lang="en-US" b="1" dirty="0"/>
              <a:t>context</a:t>
            </a:r>
            <a:r>
              <a:rPr lang="en-US" dirty="0"/>
              <a:t>, continuity, and personalized responses.</a:t>
            </a:r>
          </a:p>
          <a:p>
            <a:r>
              <a:rPr lang="en-US" dirty="0"/>
              <a:t>Notebook includes:</a:t>
            </a:r>
          </a:p>
          <a:p>
            <a:pPr lvl="1"/>
            <a:r>
              <a:rPr lang="en-US" dirty="0"/>
              <a:t>Environment setup &amp; API configuration</a:t>
            </a:r>
          </a:p>
          <a:p>
            <a:pPr lvl="1"/>
            <a:r>
              <a:rPr lang="en-US" dirty="0"/>
              <a:t>Importing ADK components</a:t>
            </a:r>
          </a:p>
          <a:p>
            <a:pPr lvl="1"/>
            <a:r>
              <a:rPr lang="en-US" dirty="0"/>
              <a:t>Creating helper functions</a:t>
            </a:r>
          </a:p>
          <a:p>
            <a:pPr lvl="1"/>
            <a:r>
              <a:rPr lang="en-US" dirty="0"/>
              <a:t>Implementing retry logic for LLM reliability</a:t>
            </a:r>
          </a:p>
          <a:p>
            <a:pPr lvl="1"/>
            <a:r>
              <a:rPr lang="en-US" dirty="0"/>
              <a:t>Building and testing a session-aware agent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7395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ADK?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2671885"/>
          </a:xfrm>
        </p:spPr>
        <p:txBody>
          <a:bodyPr>
            <a:normAutofit fontScale="92500"/>
          </a:bodyPr>
          <a:lstStyle/>
          <a:p>
            <a:r>
              <a:rPr lang="en-US" dirty="0"/>
              <a:t>ADK (Agent Development Kit) is Google’s framework for building </a:t>
            </a:r>
            <a:r>
              <a:rPr lang="en-US" b="1" dirty="0"/>
              <a:t>AI agents</a:t>
            </a:r>
            <a:r>
              <a:rPr lang="en-US" dirty="0" smtClean="0"/>
              <a:t>.</a:t>
            </a:r>
          </a:p>
          <a:p>
            <a:r>
              <a:rPr lang="en-US" dirty="0"/>
              <a:t>Provides a structured way to create intelligent, multi-step, context-aware interactions</a:t>
            </a:r>
            <a:r>
              <a:rPr lang="en-US" dirty="0" smtClean="0"/>
              <a:t>.</a:t>
            </a:r>
          </a:p>
          <a:p>
            <a:r>
              <a:rPr lang="en-US" dirty="0"/>
              <a:t>Includes tools for sessions, memory, orchestration, and agent workflows</a:t>
            </a:r>
            <a:r>
              <a:rPr lang="en-US" dirty="0" smtClean="0"/>
              <a:t>.</a:t>
            </a:r>
          </a:p>
          <a:p>
            <a:r>
              <a:rPr lang="en-US" dirty="0"/>
              <a:t>ADK provides a standardized framework for building reliable, production-ready AI assistants.</a:t>
            </a:r>
            <a:br>
              <a:rPr lang="en-US" dirty="0"/>
            </a:br>
            <a:r>
              <a:rPr lang="en-US" dirty="0"/>
              <a:t>It ensures your agent follows a consistent structure, making it easier to scale, debug, and maintain.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04420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Use ADK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Makes it easy to build </a:t>
            </a:r>
            <a:r>
              <a:rPr lang="en-US" b="1" dirty="0" err="1"/>
              <a:t>stateful</a:t>
            </a:r>
            <a:r>
              <a:rPr lang="en-US" b="1" dirty="0"/>
              <a:t> agents</a:t>
            </a:r>
            <a:r>
              <a:rPr lang="en-US" dirty="0"/>
              <a:t> that remember past conversations</a:t>
            </a:r>
            <a:r>
              <a:rPr lang="en-US" dirty="0" smtClean="0"/>
              <a:t>.</a:t>
            </a:r>
          </a:p>
          <a:p>
            <a:r>
              <a:rPr lang="en-IN" dirty="0"/>
              <a:t>Provides built-in features like</a:t>
            </a:r>
            <a:r>
              <a:rPr lang="en-IN" dirty="0" smtClean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 smtClean="0"/>
              <a:t>Session Management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Runner </a:t>
            </a:r>
            <a:r>
              <a:rPr lang="en-IN" dirty="0" smtClean="0"/>
              <a:t>orchestration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Memory </a:t>
            </a:r>
            <a:r>
              <a:rPr lang="en-IN" dirty="0" smtClean="0"/>
              <a:t>handling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 smtClean="0"/>
          </a:p>
        </p:txBody>
      </p:sp>
    </p:spTree>
    <p:extLst>
      <p:ext uri="{BB962C8B-B14F-4D97-AF65-F5344CB8AC3E}">
        <p14:creationId xmlns:p14="http://schemas.microsoft.com/office/powerpoint/2010/main" val="3978461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 smtClean="0"/>
              <a:t>Sessions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</a:t>
            </a:r>
            <a:r>
              <a:rPr lang="en-US" b="1" dirty="0"/>
              <a:t>Session</a:t>
            </a:r>
            <a:r>
              <a:rPr lang="en-US" dirty="0"/>
              <a:t> is the memory space where conversation history is </a:t>
            </a:r>
            <a:r>
              <a:rPr lang="en-US" dirty="0" smtClean="0"/>
              <a:t>stored</a:t>
            </a:r>
          </a:p>
          <a:p>
            <a:r>
              <a:rPr lang="en-US" dirty="0"/>
              <a:t>It keeps track of:</a:t>
            </a:r>
          </a:p>
          <a:p>
            <a:pPr marL="0" indent="0">
              <a:buNone/>
            </a:pPr>
            <a:r>
              <a:rPr lang="en-US" dirty="0" smtClean="0"/>
              <a:t>     ✓ </a:t>
            </a:r>
            <a:r>
              <a:rPr lang="en-US" dirty="0"/>
              <a:t>Previous user messages</a:t>
            </a:r>
          </a:p>
          <a:p>
            <a:pPr marL="0" indent="0">
              <a:buNone/>
            </a:pPr>
            <a:r>
              <a:rPr lang="en-US" dirty="0" smtClean="0"/>
              <a:t>     ✓ </a:t>
            </a:r>
            <a:r>
              <a:rPr lang="en-US" dirty="0"/>
              <a:t>Agent responses</a:t>
            </a:r>
          </a:p>
          <a:p>
            <a:pPr marL="0" indent="0">
              <a:buNone/>
            </a:pPr>
            <a:r>
              <a:rPr lang="en-US" dirty="0" smtClean="0"/>
              <a:t>     ✓ </a:t>
            </a:r>
            <a:r>
              <a:rPr lang="en-US" dirty="0"/>
              <a:t>Stored key–value state data</a:t>
            </a:r>
          </a:p>
          <a:p>
            <a:r>
              <a:rPr lang="en-US" dirty="0"/>
              <a:t>Sessions help the agent maintain </a:t>
            </a:r>
            <a:r>
              <a:rPr lang="en-US" b="1" dirty="0"/>
              <a:t>context</a:t>
            </a:r>
            <a:r>
              <a:rPr lang="en-US" dirty="0"/>
              <a:t> across multiple messages</a:t>
            </a:r>
            <a:r>
              <a:rPr lang="en-US" dirty="0" smtClean="0"/>
              <a:t>.</a:t>
            </a:r>
          </a:p>
          <a:p>
            <a:r>
              <a:rPr lang="en-US" dirty="0"/>
              <a:t>Without sessions, the agent will </a:t>
            </a:r>
            <a:r>
              <a:rPr lang="en-US" b="1" dirty="0"/>
              <a:t>forget previous interactions</a:t>
            </a:r>
            <a:r>
              <a:rPr lang="en-US" dirty="0"/>
              <a:t> and feel disconnected</a:t>
            </a:r>
            <a:r>
              <a:rPr lang="en-US" dirty="0" smtClean="0"/>
              <a:t>.</a:t>
            </a:r>
          </a:p>
          <a:p>
            <a:r>
              <a:rPr lang="en-US" dirty="0"/>
              <a:t>In ADK, session data is shared across all agents inside the same application</a:t>
            </a:r>
            <a:endParaRPr lang="en-US" dirty="0" smtClean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182479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Importance of Session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Sessions allow the AI agent to </a:t>
            </a:r>
            <a:r>
              <a:rPr lang="en-US" b="1" dirty="0"/>
              <a:t>remember past interactions</a:t>
            </a:r>
            <a:r>
              <a:rPr lang="en-US" dirty="0" smtClean="0"/>
              <a:t>.</a:t>
            </a:r>
          </a:p>
          <a:p>
            <a:r>
              <a:rPr lang="en-US" dirty="0"/>
              <a:t>Helps maintain a </a:t>
            </a:r>
            <a:r>
              <a:rPr lang="en-US" b="1" dirty="0"/>
              <a:t>smooth and natural conversation flow</a:t>
            </a:r>
            <a:r>
              <a:rPr lang="en-US" dirty="0" smtClean="0"/>
              <a:t>.</a:t>
            </a:r>
          </a:p>
          <a:p>
            <a:r>
              <a:rPr lang="en-IN" dirty="0"/>
              <a:t>Enables the agent to</a:t>
            </a:r>
            <a:r>
              <a:rPr lang="en-IN" dirty="0" smtClean="0"/>
              <a:t>:</a:t>
            </a:r>
          </a:p>
          <a:p>
            <a:pPr marL="0" indent="0">
              <a:buNone/>
            </a:pPr>
            <a:r>
              <a:rPr lang="en-IN" dirty="0" smtClean="0"/>
              <a:t>              Recall </a:t>
            </a:r>
            <a:r>
              <a:rPr lang="en-IN" dirty="0"/>
              <a:t>user </a:t>
            </a:r>
            <a:r>
              <a:rPr lang="en-IN" dirty="0" smtClean="0"/>
              <a:t>preferences</a:t>
            </a:r>
          </a:p>
          <a:p>
            <a:pPr marL="0" indent="0">
              <a:buNone/>
            </a:pPr>
            <a:r>
              <a:rPr lang="en-IN" dirty="0"/>
              <a:t> </a:t>
            </a:r>
            <a:r>
              <a:rPr lang="en-IN" dirty="0" smtClean="0"/>
              <a:t>             </a:t>
            </a:r>
            <a:r>
              <a:rPr lang="en-US" dirty="0" smtClean="0"/>
              <a:t>Track </a:t>
            </a:r>
            <a:r>
              <a:rPr lang="en-US" dirty="0"/>
              <a:t>progress across multiple </a:t>
            </a:r>
            <a:r>
              <a:rPr lang="en-US" dirty="0" smtClean="0"/>
              <a:t>messages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Provide </a:t>
            </a:r>
            <a:r>
              <a:rPr lang="en-US" dirty="0"/>
              <a:t>consistent and personalized </a:t>
            </a:r>
            <a:r>
              <a:rPr lang="en-US" dirty="0" smtClean="0"/>
              <a:t>responses</a:t>
            </a:r>
          </a:p>
          <a:p>
            <a:r>
              <a:rPr lang="en-US" dirty="0"/>
              <a:t>Prevents repetitive or disconnected </a:t>
            </a:r>
            <a:r>
              <a:rPr lang="en-US" dirty="0" smtClean="0"/>
              <a:t>answers</a:t>
            </a:r>
          </a:p>
          <a:p>
            <a:r>
              <a:rPr lang="en-US" dirty="0"/>
              <a:t>Essential for building a </a:t>
            </a:r>
            <a:r>
              <a:rPr lang="en-US" b="1" dirty="0" err="1"/>
              <a:t>stateful</a:t>
            </a:r>
            <a:r>
              <a:rPr lang="en-US" b="1" dirty="0"/>
              <a:t> and intelligent agent</a:t>
            </a:r>
            <a:r>
              <a:rPr lang="en-US" dirty="0"/>
              <a:t> rather than a basic </a:t>
            </a:r>
            <a:r>
              <a:rPr lang="en-US" dirty="0" err="1"/>
              <a:t>chatbot</a:t>
            </a:r>
            <a:r>
              <a:rPr lang="en-US" dirty="0"/>
              <a:t>.</a:t>
            </a:r>
            <a:endParaRPr lang="en-US" dirty="0" smtClean="0"/>
          </a:p>
          <a:p>
            <a:endParaRPr lang="en-IN" dirty="0" smtClean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6816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Session Management Components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499"/>
            <a:ext cx="8825659" cy="3755097"/>
          </a:xfrm>
        </p:spPr>
        <p:txBody>
          <a:bodyPr>
            <a:normAutofit/>
          </a:bodyPr>
          <a:lstStyle/>
          <a:p>
            <a:r>
              <a:rPr lang="en-US" b="1" dirty="0" err="1"/>
              <a:t>SessionService</a:t>
            </a:r>
            <a:r>
              <a:rPr lang="en-US" b="1" dirty="0"/>
              <a:t> — The Storage </a:t>
            </a:r>
            <a:r>
              <a:rPr lang="en-US" b="1" dirty="0" smtClean="0"/>
              <a:t>Layer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-Manages </a:t>
            </a:r>
            <a:r>
              <a:rPr lang="en-US" dirty="0"/>
              <a:t>creation, storage, and retrieval of session data</a:t>
            </a:r>
          </a:p>
          <a:p>
            <a:pPr marL="0" indent="0">
              <a:buNone/>
            </a:pPr>
            <a:r>
              <a:rPr lang="en-US" dirty="0" smtClean="0"/>
              <a:t>      -Supports </a:t>
            </a:r>
            <a:r>
              <a:rPr lang="en-US" dirty="0"/>
              <a:t>different storage options (in-memory, database, </a:t>
            </a:r>
            <a:r>
              <a:rPr lang="en-US" dirty="0" smtClean="0"/>
              <a:t>cloud)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-Ensures </a:t>
            </a:r>
            <a:r>
              <a:rPr lang="en-US" dirty="0"/>
              <a:t>session data is accessible to all </a:t>
            </a:r>
            <a:r>
              <a:rPr lang="en-US" dirty="0" smtClean="0"/>
              <a:t>agents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IN" b="1" dirty="0"/>
              <a:t>Runner — The Orchestration </a:t>
            </a:r>
            <a:r>
              <a:rPr lang="en-IN" b="1" dirty="0" smtClean="0"/>
              <a:t>Layer</a:t>
            </a:r>
          </a:p>
          <a:p>
            <a:pPr marL="0" indent="0">
              <a:buNone/>
            </a:pPr>
            <a:r>
              <a:rPr lang="en-IN" dirty="0"/>
              <a:t> </a:t>
            </a:r>
            <a:r>
              <a:rPr lang="en-IN" dirty="0" smtClean="0"/>
              <a:t>      -</a:t>
            </a:r>
            <a:r>
              <a:rPr lang="en-US" dirty="0"/>
              <a:t>Manages the flow of information between the user and the </a:t>
            </a:r>
            <a:r>
              <a:rPr lang="en-US" dirty="0" smtClean="0"/>
              <a:t>agent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-</a:t>
            </a:r>
            <a:r>
              <a:rPr lang="en-IN" dirty="0"/>
              <a:t>Automatically maintains conversation </a:t>
            </a:r>
            <a:r>
              <a:rPr lang="en-IN" dirty="0" smtClean="0"/>
              <a:t>history</a:t>
            </a:r>
          </a:p>
          <a:p>
            <a:pPr marL="0" indent="0">
              <a:buNone/>
            </a:pPr>
            <a:r>
              <a:rPr lang="en-IN" dirty="0" smtClean="0"/>
              <a:t>       -</a:t>
            </a:r>
            <a:r>
              <a:rPr lang="en-US" dirty="0"/>
              <a:t>Handles context engineering behind the scenes</a:t>
            </a:r>
            <a:endParaRPr lang="en-IN" dirty="0" smtClean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677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the </a:t>
            </a:r>
            <a:r>
              <a:rPr lang="en-US" dirty="0" err="1"/>
              <a:t>Stateful</a:t>
            </a:r>
            <a:r>
              <a:rPr lang="en-US" dirty="0"/>
              <a:t> AI Agent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Implemented a </a:t>
            </a:r>
            <a:r>
              <a:rPr lang="en-US" b="1" dirty="0" err="1"/>
              <a:t>stateful</a:t>
            </a:r>
            <a:r>
              <a:rPr lang="en-US" b="1" dirty="0"/>
              <a:t> agent</a:t>
            </a:r>
            <a:r>
              <a:rPr lang="en-US" dirty="0"/>
              <a:t> </a:t>
            </a:r>
            <a:r>
              <a:rPr lang="en-US" dirty="0" smtClean="0"/>
              <a:t>using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-</a:t>
            </a:r>
            <a:r>
              <a:rPr lang="en-IN" dirty="0"/>
              <a:t> </a:t>
            </a:r>
            <a:r>
              <a:rPr lang="en-IN" dirty="0" err="1"/>
              <a:t>InMemorySessionService</a:t>
            </a:r>
            <a:r>
              <a:rPr lang="en-IN" dirty="0"/>
              <a:t> for storing session data</a:t>
            </a:r>
            <a:endParaRPr lang="en-US" dirty="0" smtClean="0"/>
          </a:p>
          <a:p>
            <a:r>
              <a:rPr lang="en-IN" dirty="0"/>
              <a:t>Agent is designed to</a:t>
            </a:r>
            <a:r>
              <a:rPr lang="en-IN" dirty="0" smtClean="0"/>
              <a:t>:</a:t>
            </a:r>
          </a:p>
          <a:p>
            <a:pPr marL="0" indent="0">
              <a:buNone/>
            </a:pPr>
            <a:r>
              <a:rPr lang="en-IN" dirty="0"/>
              <a:t>       - Maintain conversation </a:t>
            </a:r>
            <a:r>
              <a:rPr lang="en-IN" dirty="0" smtClean="0"/>
              <a:t>history</a:t>
            </a:r>
          </a:p>
          <a:p>
            <a:pPr marL="0" indent="0">
              <a:buNone/>
            </a:pPr>
            <a:r>
              <a:rPr lang="en-IN" dirty="0"/>
              <a:t>       - Recall previous user </a:t>
            </a:r>
            <a:r>
              <a:rPr lang="en-IN" dirty="0" smtClean="0"/>
              <a:t>inputs</a:t>
            </a:r>
          </a:p>
          <a:p>
            <a:pPr marL="0" indent="0">
              <a:buNone/>
            </a:pPr>
            <a:r>
              <a:rPr lang="en-IN" dirty="0"/>
              <a:t> </a:t>
            </a:r>
            <a:r>
              <a:rPr lang="en-IN" dirty="0" smtClean="0"/>
              <a:t>      -</a:t>
            </a:r>
            <a:r>
              <a:rPr lang="en-US" dirty="0"/>
              <a:t> Access session state during every response</a:t>
            </a:r>
            <a:endParaRPr lang="en-IN" dirty="0" smtClean="0"/>
          </a:p>
          <a:p>
            <a:r>
              <a:rPr lang="en-US" dirty="0"/>
              <a:t>Memory is automatically updated with each </a:t>
            </a:r>
            <a:r>
              <a:rPr lang="en-US" dirty="0" smtClean="0"/>
              <a:t>message</a:t>
            </a:r>
          </a:p>
          <a:p>
            <a:r>
              <a:rPr lang="en-US" dirty="0"/>
              <a:t>This creates a smooth, context-aware conversation flow.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</a:t>
            </a:r>
            <a:endParaRPr lang="en-IN" dirty="0" smtClean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dirty="0" smtClean="0"/>
          </a:p>
        </p:txBody>
      </p:sp>
    </p:spTree>
    <p:extLst>
      <p:ext uri="{BB962C8B-B14F-4D97-AF65-F5344CB8AC3E}">
        <p14:creationId xmlns:p14="http://schemas.microsoft.com/office/powerpoint/2010/main" val="3951164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Persistent Sessions in ADK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Persistent sessions store conversation history </a:t>
            </a:r>
            <a:r>
              <a:rPr lang="en-US" b="1" dirty="0"/>
              <a:t>beyond the current runtime</a:t>
            </a:r>
            <a:r>
              <a:rPr lang="en-US" dirty="0" smtClean="0"/>
              <a:t>.</a:t>
            </a:r>
          </a:p>
          <a:p>
            <a:r>
              <a:rPr lang="en-US" dirty="0"/>
              <a:t>Unlike in-memory sessions, data is </a:t>
            </a:r>
            <a:r>
              <a:rPr lang="en-US" b="1" dirty="0"/>
              <a:t>saved permanently</a:t>
            </a:r>
            <a:r>
              <a:rPr lang="en-US" dirty="0"/>
              <a:t> in storage (database, file system, or cloud</a:t>
            </a:r>
            <a:r>
              <a:rPr lang="en-US" dirty="0" smtClean="0"/>
              <a:t>).</a:t>
            </a:r>
          </a:p>
          <a:p>
            <a:r>
              <a:rPr lang="en-US" dirty="0"/>
              <a:t>Allows users to return later and continue the conversation from where they left off</a:t>
            </a:r>
            <a:r>
              <a:rPr lang="en-US" dirty="0" smtClean="0"/>
              <a:t>.</a:t>
            </a:r>
          </a:p>
          <a:p>
            <a:r>
              <a:rPr lang="en-US" dirty="0"/>
              <a:t>Useful for real applications like:</a:t>
            </a:r>
          </a:p>
          <a:p>
            <a:r>
              <a:rPr lang="en-US" dirty="0"/>
              <a:t>Multi-day workflows</a:t>
            </a:r>
          </a:p>
          <a:p>
            <a:r>
              <a:rPr lang="en-US" dirty="0"/>
              <a:t>Customer support agents</a:t>
            </a:r>
          </a:p>
          <a:p>
            <a:r>
              <a:rPr lang="en-US" dirty="0"/>
              <a:t>Personalized assistants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1807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Database Session Services in ADK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Stores session data in a </a:t>
            </a:r>
            <a:r>
              <a:rPr lang="en-US" b="1" dirty="0"/>
              <a:t>persistent database</a:t>
            </a:r>
            <a:r>
              <a:rPr lang="en-US" dirty="0"/>
              <a:t> instead of memory</a:t>
            </a:r>
            <a:r>
              <a:rPr lang="en-US" dirty="0" smtClean="0"/>
              <a:t>.</a:t>
            </a:r>
          </a:p>
          <a:p>
            <a:r>
              <a:rPr lang="en-US" dirty="0"/>
              <a:t>Allows conversations to continue across restarts, devices, or long time gaps</a:t>
            </a:r>
            <a:r>
              <a:rPr lang="en-US" dirty="0" smtClean="0"/>
              <a:t>.</a:t>
            </a:r>
          </a:p>
          <a:p>
            <a:r>
              <a:rPr lang="en-US" dirty="0"/>
              <a:t>Suitable for production systems with multiple users</a:t>
            </a:r>
            <a:r>
              <a:rPr lang="en-US" dirty="0" smtClean="0"/>
              <a:t>.</a:t>
            </a:r>
          </a:p>
          <a:p>
            <a:r>
              <a:rPr lang="en-IN" dirty="0"/>
              <a:t>Supports scalable storage options like</a:t>
            </a:r>
            <a:r>
              <a:rPr lang="en-IN" dirty="0" smtClean="0"/>
              <a:t>:</a:t>
            </a:r>
          </a:p>
          <a:p>
            <a:pPr marL="0" indent="0">
              <a:buNone/>
            </a:pPr>
            <a:r>
              <a:rPr lang="en-IN" dirty="0"/>
              <a:t>      - SQL / </a:t>
            </a:r>
            <a:r>
              <a:rPr lang="en-IN" dirty="0" err="1"/>
              <a:t>NoSQL</a:t>
            </a:r>
            <a:r>
              <a:rPr lang="en-IN" dirty="0"/>
              <a:t> </a:t>
            </a:r>
            <a:r>
              <a:rPr lang="en-IN" dirty="0" smtClean="0"/>
              <a:t>databases</a:t>
            </a:r>
          </a:p>
          <a:p>
            <a:pPr marL="0" indent="0">
              <a:buNone/>
            </a:pPr>
            <a:r>
              <a:rPr lang="en-IN" dirty="0"/>
              <a:t>      - Cloud-hosted storage services</a:t>
            </a:r>
            <a:endParaRPr lang="en-IN" dirty="0" smtClean="0"/>
          </a:p>
          <a:p>
            <a:r>
              <a:rPr lang="en-US" dirty="0"/>
              <a:t>Ensures </a:t>
            </a:r>
            <a:r>
              <a:rPr lang="en-US" b="1" dirty="0"/>
              <a:t>reliable, long-term memory</a:t>
            </a:r>
            <a:r>
              <a:rPr lang="en-US" dirty="0"/>
              <a:t> for AI agents</a:t>
            </a:r>
            <a:r>
              <a:rPr lang="en-US" dirty="0" smtClean="0"/>
              <a:t>.</a:t>
            </a:r>
          </a:p>
          <a:p>
            <a:r>
              <a:rPr lang="en-US" dirty="0"/>
              <a:t>Helps in analytics, auditing, and personalized user experiences.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313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Context Compaction in ADK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Context compaction reduces the size of stored conversation history</a:t>
            </a:r>
            <a:r>
              <a:rPr lang="en-US" dirty="0" smtClean="0"/>
              <a:t>.</a:t>
            </a:r>
          </a:p>
          <a:p>
            <a:r>
              <a:rPr lang="en-US" dirty="0"/>
              <a:t>Prevents sessions from becoming too large or exceeding token limits</a:t>
            </a:r>
            <a:r>
              <a:rPr lang="en-US" dirty="0" smtClean="0"/>
              <a:t>.</a:t>
            </a:r>
          </a:p>
          <a:p>
            <a:r>
              <a:rPr lang="en-US" dirty="0"/>
              <a:t>Automatically compresses older or unnecessary events</a:t>
            </a:r>
            <a:r>
              <a:rPr lang="en-US" dirty="0" smtClean="0"/>
              <a:t>.</a:t>
            </a:r>
          </a:p>
          <a:p>
            <a:r>
              <a:rPr lang="en-US" dirty="0"/>
              <a:t>Keeps only the </a:t>
            </a:r>
            <a:r>
              <a:rPr lang="en-US" b="1" dirty="0"/>
              <a:t>most relevant information</a:t>
            </a:r>
            <a:r>
              <a:rPr lang="en-US" dirty="0"/>
              <a:t> needed for the agent</a:t>
            </a:r>
            <a:r>
              <a:rPr lang="en-US" dirty="0" smtClean="0"/>
              <a:t>.</a:t>
            </a:r>
          </a:p>
          <a:p>
            <a:r>
              <a:rPr lang="en-US" dirty="0"/>
              <a:t>Improves performance, speed, and efficiency during interactions</a:t>
            </a:r>
            <a:r>
              <a:rPr lang="en-US" dirty="0" smtClean="0"/>
              <a:t>.</a:t>
            </a:r>
          </a:p>
          <a:p>
            <a:r>
              <a:rPr lang="en-US" dirty="0"/>
              <a:t>Ensures long-term conversations remain manageable and affordable.</a:t>
            </a:r>
            <a:endParaRPr lang="en-IN" dirty="0" smtClean="0"/>
          </a:p>
        </p:txBody>
      </p:sp>
    </p:spTree>
    <p:extLst>
      <p:ext uri="{BB962C8B-B14F-4D97-AF65-F5344CB8AC3E}">
        <p14:creationId xmlns:p14="http://schemas.microsoft.com/office/powerpoint/2010/main" val="3655050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Successfully built a </a:t>
            </a:r>
            <a:r>
              <a:rPr lang="en-US" b="1" dirty="0" err="1"/>
              <a:t>stateful</a:t>
            </a:r>
            <a:r>
              <a:rPr lang="en-US" b="1" dirty="0"/>
              <a:t> conversational AI agent</a:t>
            </a:r>
            <a:r>
              <a:rPr lang="en-US" dirty="0"/>
              <a:t> using Google ADK</a:t>
            </a:r>
            <a:r>
              <a:rPr lang="en-US" dirty="0" smtClean="0"/>
              <a:t>.</a:t>
            </a:r>
          </a:p>
          <a:p>
            <a:r>
              <a:rPr lang="en-US" dirty="0"/>
              <a:t>Implemented </a:t>
            </a:r>
            <a:r>
              <a:rPr lang="en-US" b="1" dirty="0"/>
              <a:t>session management</a:t>
            </a:r>
            <a:r>
              <a:rPr lang="en-US" dirty="0"/>
              <a:t> to enable memory-based interactions</a:t>
            </a:r>
            <a:r>
              <a:rPr lang="en-US" dirty="0" smtClean="0"/>
              <a:t>.</a:t>
            </a:r>
          </a:p>
          <a:p>
            <a:r>
              <a:rPr lang="en-US" dirty="0"/>
              <a:t>Explored </a:t>
            </a:r>
            <a:r>
              <a:rPr lang="en-US" b="1" dirty="0" err="1"/>
              <a:t>SessionService</a:t>
            </a:r>
            <a:r>
              <a:rPr lang="en-US" b="1" dirty="0"/>
              <a:t>, Runner, App, Agent</a:t>
            </a:r>
            <a:r>
              <a:rPr lang="en-US" dirty="0"/>
              <a:t>, and their roles in agent workflows</a:t>
            </a:r>
            <a:r>
              <a:rPr lang="en-US" dirty="0" smtClean="0"/>
              <a:t>.</a:t>
            </a:r>
          </a:p>
          <a:p>
            <a:r>
              <a:rPr lang="en-US" dirty="0"/>
              <a:t>Upgraded to </a:t>
            </a:r>
            <a:r>
              <a:rPr lang="en-US" b="1" dirty="0"/>
              <a:t>persistent sessions</a:t>
            </a:r>
            <a:r>
              <a:rPr lang="en-US" dirty="0"/>
              <a:t> using a SQLite database for long-term memory</a:t>
            </a:r>
            <a:r>
              <a:rPr lang="en-US" dirty="0" smtClean="0"/>
              <a:t>.</a:t>
            </a:r>
          </a:p>
          <a:p>
            <a:r>
              <a:rPr lang="en-US" dirty="0"/>
              <a:t>Understood advanced concepts like </a:t>
            </a:r>
            <a:r>
              <a:rPr lang="en-US" b="1" dirty="0"/>
              <a:t>context compaction</a:t>
            </a:r>
            <a:r>
              <a:rPr lang="en-US" dirty="0"/>
              <a:t> and </a:t>
            </a:r>
            <a:r>
              <a:rPr lang="en-US" b="1" dirty="0"/>
              <a:t>database session services</a:t>
            </a:r>
            <a:r>
              <a:rPr lang="en-US" dirty="0" smtClean="0"/>
              <a:t>.</a:t>
            </a:r>
          </a:p>
          <a:p>
            <a:r>
              <a:rPr lang="en-US" dirty="0"/>
              <a:t>Demonstrated how AI agents become more reliable, personalized, and context-aware with proper memory handling.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06942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76344" y="2973640"/>
            <a:ext cx="28457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dirty="0" smtClean="0"/>
              <a:t>Thank</a:t>
            </a:r>
            <a:r>
              <a:rPr lang="en-IN" sz="2400" dirty="0" smtClean="0"/>
              <a:t> </a:t>
            </a:r>
            <a:r>
              <a:rPr lang="en-IN" sz="4000" dirty="0" smtClean="0"/>
              <a:t>you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3266837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2098</TotalTime>
  <Words>754</Words>
  <Application>Microsoft Office PowerPoint</Application>
  <PresentationFormat>Widescreen</PresentationFormat>
  <Paragraphs>107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Century Gothic</vt:lpstr>
      <vt:lpstr>Wingdings 3</vt:lpstr>
      <vt:lpstr>Ion Boardroom</vt:lpstr>
      <vt:lpstr>502-Generative AI</vt:lpstr>
      <vt:lpstr>Introduction</vt:lpstr>
      <vt:lpstr>Project Overview</vt:lpstr>
      <vt:lpstr>What is ADK?</vt:lpstr>
      <vt:lpstr>Why Do We Use ADK</vt:lpstr>
      <vt:lpstr>Sessions</vt:lpstr>
      <vt:lpstr>Importance of Session Management</vt:lpstr>
      <vt:lpstr>Session Management Components </vt:lpstr>
      <vt:lpstr>Building the Stateful AI Agent</vt:lpstr>
      <vt:lpstr>Persistent Sessions in ADK</vt:lpstr>
      <vt:lpstr>Database Session Services in ADK</vt:lpstr>
      <vt:lpstr>Context Compaction in ADK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502-Generative AI</dc:title>
  <dc:creator>HP</dc:creator>
  <cp:lastModifiedBy>HP</cp:lastModifiedBy>
  <cp:revision>26</cp:revision>
  <dcterms:created xsi:type="dcterms:W3CDTF">2025-12-01T18:53:53Z</dcterms:created>
  <dcterms:modified xsi:type="dcterms:W3CDTF">2025-12-03T19:38:02Z</dcterms:modified>
</cp:coreProperties>
</file>